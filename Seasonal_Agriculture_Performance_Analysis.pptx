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13" autoAdjust="0"/>
    <p:restoredTop sz="95033" autoAdjust="0"/>
  </p:normalViewPr>
  <p:slideViewPr>
    <p:cSldViewPr snapToGrid="0">
      <p:cViewPr varScale="1">
        <p:scale>
          <a:sx n="117" d="100"/>
          <a:sy n="117" d="100"/>
        </p:scale>
        <p:origin x="288" y="18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hyperlink" Target="https://dreamofelectricsheep.tistory.com/entry/NumPy-%EB%84%98%ED%8C%8C%EC%9D%B4-%EB%B0%B0%EC%97%B4ndarray-%EB%A7%8C%EB%93%A4%EA%B8%B0" TargetMode="Externa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hyperlink" Target="https://phpsenior.blogspot.com/"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hyperlink" Target="https://www.marinedatascience.co/software/"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randlow.github.io/posts/index-9.html" TargetMode="External"/><Relationship Id="rId4" Type="http://schemas.openxmlformats.org/officeDocument/2006/relationships/image" Target="../media/image5.png"/><Relationship Id="rId9"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hyperlink" Target="https://geomoer.github.io/moer-base-r/unit99/sl02_github.html" TargetMode="External"/><Relationship Id="rId5" Type="http://schemas.openxmlformats.org/officeDocument/2006/relationships/image" Target="../media/image16.png"/><Relationship Id="rId4" Type="http://schemas.openxmlformats.org/officeDocument/2006/relationships/hyperlink" Target="https://commons.wikimedia.org/wiki/Category:GitHub"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3914"/>
            <a:ext cx="2702197" cy="861497"/>
          </a:xfrm>
        </p:spPr>
        <p:txBody>
          <a:bodyPr vert="horz" lIns="91440" tIns="45720" rIns="91440" bIns="45720" rtlCol="0" anchor="t">
            <a:normAutofit/>
          </a:bodyPr>
          <a:lstStyle/>
          <a:p>
            <a:r>
              <a:rPr lang="en-US" b="0" dirty="0">
                <a:solidFill>
                  <a:schemeClr val="tx1"/>
                </a:solidFill>
              </a:rPr>
              <a:t>By-Aniket Dey Dhara</a:t>
            </a:r>
            <a:endParaRPr lang="en-IN" b="0" dirty="0">
              <a:solidFill>
                <a:schemeClr val="tx1"/>
              </a:solidFill>
            </a:endParaRPr>
          </a:p>
          <a:p>
            <a:r>
              <a:rPr lang="en-US" b="0" dirty="0">
                <a:solidFill>
                  <a:schemeClr val="tx1"/>
                </a:solidFill>
              </a:rPr>
              <a:t>Techno Main Salt Lake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8911950" cy="743448"/>
          </a:xfrm>
        </p:spPr>
        <p:txBody>
          <a:bodyPr>
            <a:normAutofit/>
          </a:bodyPr>
          <a:lstStyle/>
          <a:p>
            <a:r>
              <a:rPr lang="en-GB" sz="3200" b="1" dirty="0"/>
              <a:t>Seasonal Agriculture Performance Analysis</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68095"/>
            <a:ext cx="5986100" cy="369332"/>
          </a:xfrm>
          <a:prstGeom prst="rect">
            <a:avLst/>
          </a:prstGeom>
          <a:noFill/>
        </p:spPr>
        <p:txBody>
          <a:bodyPr wrap="square" rtlCol="0">
            <a:spAutoFit/>
          </a:bodyPr>
          <a:lstStyle/>
          <a:p>
            <a:r>
              <a:rPr lang="en-US" b="1" dirty="0"/>
              <a:t>AICTE STUDENT ID: STU65ffc365db25e1711260517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80677" y="2147698"/>
            <a:ext cx="6431280" cy="3607987"/>
          </a:xfrm>
        </p:spPr>
        <p:txBody>
          <a:bodyPr vert="horz" lIns="91440" tIns="45720" rIns="91440" bIns="45720" rtlCol="0" anchor="t">
            <a:normAutofit fontScale="70000" lnSpcReduction="20000"/>
          </a:bodyPr>
          <a:lstStyle/>
          <a:p>
            <a:pPr marL="0" indent="0">
              <a:lnSpc>
                <a:spcPct val="100000"/>
              </a:lnSpc>
              <a:buNone/>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993036" y="1607198"/>
            <a:ext cx="5900000" cy="4586771"/>
          </a:xfrm>
        </p:spPr>
        <p:txBody>
          <a:bodyPr anchor="t">
            <a:noAutofit/>
          </a:bodyPr>
          <a:lstStyle/>
          <a:p>
            <a:pPr>
              <a:spcBef>
                <a:spcPts val="1200"/>
              </a:spcBef>
            </a:pPr>
            <a:r>
              <a:rPr lang="en-GB" sz="2000" b="0" dirty="0"/>
              <a:t>This project analyzes a seasonal agriculture dataset covering multiple Indian states, crops and farming conditions. It examines how farming practices, environmental factors, resource usage and economic performance vary across the Kharif, Rabi and Zaid seasons. Using Python-based data cleaning, exploratory analysis and visualization, the project identifies seasonal patterns, trends and relationships in agricultural performance, and develops evidence-based insights and recommendations to support seasonal agricultural planning.</a:t>
            </a:r>
            <a:endParaRPr lang="en-IN" sz="20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0521DD90-6B7B-B95D-E608-450F428EF1C0}"/>
              </a:ext>
            </a:extLst>
          </p:cNvPr>
          <p:cNvSpPr txBox="1"/>
          <p:nvPr/>
        </p:nvSpPr>
        <p:spPr>
          <a:xfrm>
            <a:off x="675957" y="413656"/>
            <a:ext cx="5290231" cy="769441"/>
          </a:xfrm>
          <a:prstGeom prst="rect">
            <a:avLst/>
          </a:prstGeom>
          <a:noFill/>
        </p:spPr>
        <p:txBody>
          <a:bodyPr wrap="none" rtlCol="0">
            <a:spAutoFit/>
          </a:bodyPr>
          <a:lstStyle/>
          <a:p>
            <a:r>
              <a:rPr lang="en-GB" sz="4400" b="1" dirty="0"/>
              <a:t>Project Description</a:t>
            </a:r>
            <a:endParaRPr lang="en-US" sz="44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285750" indent="-285750" algn="just">
              <a:lnSpc>
                <a:spcPct val="130000"/>
              </a:lnSpc>
              <a:buFont typeface="Arial" panose="020B0604020202020204" pitchFamily="34" charset="0"/>
              <a:buChar char="•"/>
            </a:pPr>
            <a:r>
              <a:rPr lang="en-US" sz="2000" dirty="0"/>
              <a:t>Farmers and agricultural producers planning crop selection and resource allocation by season</a:t>
            </a:r>
          </a:p>
          <a:p>
            <a:pPr marL="285750" indent="-285750" algn="just">
              <a:lnSpc>
                <a:spcPct val="130000"/>
              </a:lnSpc>
              <a:buFont typeface="Arial" panose="020B0604020202020204" pitchFamily="34" charset="0"/>
              <a:buChar char="•"/>
            </a:pPr>
            <a:r>
              <a:rPr lang="en-US" sz="2000" dirty="0"/>
              <a:t>Agricultural policymakers designing subsidies, irrigation and regional development programs</a:t>
            </a:r>
          </a:p>
          <a:p>
            <a:pPr marL="285750" indent="-285750" algn="just">
              <a:lnSpc>
                <a:spcPct val="130000"/>
              </a:lnSpc>
              <a:buFont typeface="Arial" panose="020B0604020202020204" pitchFamily="34" charset="0"/>
              <a:buChar char="•"/>
            </a:pPr>
            <a:r>
              <a:rPr lang="en-US" sz="2000" dirty="0"/>
              <a:t>Agribusinesses and market analysts studying seasonal crop and pricing trends</a:t>
            </a:r>
          </a:p>
          <a:p>
            <a:pPr marL="285750" indent="-285750" algn="just">
              <a:lnSpc>
                <a:spcPct val="130000"/>
              </a:lnSpc>
              <a:buFont typeface="Arial" panose="020B0604020202020204" pitchFamily="34" charset="0"/>
              <a:buChar char="•"/>
            </a:pPr>
            <a:r>
              <a:rPr lang="en-US" sz="2000" dirty="0"/>
              <a:t>Researchers and students studying seasonal patterns in agricultural performance</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56722" y="637131"/>
            <a:ext cx="10046070" cy="802641"/>
          </a:xfrm>
        </p:spPr>
        <p:txBody>
          <a:bodyPr>
            <a:normAutofit/>
          </a:bodyPr>
          <a:lstStyle/>
          <a:p>
            <a:r>
              <a:rPr lang="en-US" sz="4400" dirty="0"/>
              <a:t>Who are the end users?</a:t>
            </a:r>
            <a:endParaRPr lang="en-IN" sz="44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81314" y="1614552"/>
            <a:ext cx="9027702" cy="5243448"/>
          </a:xfrm>
        </p:spPr>
        <p:txBody>
          <a:bodyPr/>
          <a:lstStyle/>
          <a:p>
            <a:pPr lvl="1">
              <a:lnSpc>
                <a:spcPct val="85000"/>
              </a:lnSpc>
            </a:pPr>
            <a:r>
              <a:rPr lang="en-US" sz="2400" dirty="0"/>
              <a:t>Python</a:t>
            </a:r>
          </a:p>
          <a:p>
            <a:pPr lvl="1">
              <a:lnSpc>
                <a:spcPct val="85000"/>
              </a:lnSpc>
            </a:pPr>
            <a:r>
              <a:rPr lang="en-US" sz="2400" dirty="0"/>
              <a:t>GitHub</a:t>
            </a:r>
          </a:p>
          <a:p>
            <a:pPr lvl="1">
              <a:lnSpc>
                <a:spcPct val="85000"/>
              </a:lnSpc>
            </a:pPr>
            <a:r>
              <a:rPr lang="en-US" sz="2400" dirty="0"/>
              <a:t>Git</a:t>
            </a:r>
          </a:p>
          <a:p>
            <a:pPr lvl="1">
              <a:lnSpc>
                <a:spcPct val="85000"/>
              </a:lnSpc>
            </a:pPr>
            <a:r>
              <a:rPr lang="en-US" sz="2400" dirty="0"/>
              <a:t>Google Colab</a:t>
            </a:r>
          </a:p>
          <a:p>
            <a:pPr lvl="1">
              <a:lnSpc>
                <a:spcPct val="85000"/>
              </a:lnSpc>
            </a:pPr>
            <a:r>
              <a:rPr lang="en-US" sz="2400" dirty="0"/>
              <a:t>Pandas</a:t>
            </a:r>
          </a:p>
          <a:p>
            <a:pPr lvl="1">
              <a:lnSpc>
                <a:spcPct val="85000"/>
              </a:lnSpc>
            </a:pPr>
            <a:r>
              <a:rPr lang="en-US" sz="2400" dirty="0"/>
              <a:t>NumPy</a:t>
            </a:r>
          </a:p>
          <a:p>
            <a:pPr lvl="1">
              <a:lnSpc>
                <a:spcPct val="85000"/>
              </a:lnSpc>
            </a:pPr>
            <a:r>
              <a:rPr lang="en-US" sz="2400" dirty="0"/>
              <a:t>Matplotlib</a:t>
            </a:r>
          </a:p>
          <a:p>
            <a:pPr lvl="1">
              <a:lnSpc>
                <a:spcPct val="85000"/>
              </a:lnSpc>
            </a:pPr>
            <a:r>
              <a:rPr lang="en-US" sz="2400"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863600" y="452458"/>
            <a:ext cx="5306291" cy="847817"/>
          </a:xfrm>
        </p:spPr>
        <p:txBody>
          <a:bodyPr>
            <a:normAutofit fontScale="90000"/>
          </a:bodyPr>
          <a:lstStyle/>
          <a:p>
            <a:r>
              <a:rPr lang="en-US" dirty="0"/>
              <a:t>Technologies Used</a:t>
            </a:r>
          </a:p>
        </p:txBody>
      </p:sp>
      <p:pic>
        <p:nvPicPr>
          <p:cNvPr id="4" name="Picture 3" descr="A blue and yellow snake logo&#10;&#10;AI-generated content may be incorrect.">
            <a:extLst>
              <a:ext uri="{FF2B5EF4-FFF2-40B4-BE49-F238E27FC236}">
                <a16:creationId xmlns:a16="http://schemas.microsoft.com/office/drawing/2014/main" id="{1073A3F0-4389-D0BD-0283-2A32755AA308}"/>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871358" y="1514625"/>
            <a:ext cx="1367971" cy="1367971"/>
          </a:xfrm>
          <a:prstGeom prst="rect">
            <a:avLst/>
          </a:prstGeom>
        </p:spPr>
      </p:pic>
      <p:pic>
        <p:nvPicPr>
          <p:cNvPr id="10" name="Picture 9" descr="A blue and black logo&#10;&#10;AI-generated content may be incorrect.">
            <a:extLst>
              <a:ext uri="{FF2B5EF4-FFF2-40B4-BE49-F238E27FC236}">
                <a16:creationId xmlns:a16="http://schemas.microsoft.com/office/drawing/2014/main" id="{3B217E16-E1CD-C607-7881-F184670AA489}"/>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7203867" y="1399636"/>
            <a:ext cx="2969492" cy="1484746"/>
          </a:xfrm>
          <a:prstGeom prst="rect">
            <a:avLst/>
          </a:prstGeom>
        </p:spPr>
      </p:pic>
      <p:pic>
        <p:nvPicPr>
          <p:cNvPr id="13" name="Picture 12" descr="A yellow circle logo&#10;&#10;AI-generated content may be incorrect.">
            <a:extLst>
              <a:ext uri="{FF2B5EF4-FFF2-40B4-BE49-F238E27FC236}">
                <a16:creationId xmlns:a16="http://schemas.microsoft.com/office/drawing/2014/main" id="{C1FF7B0C-A5E5-C722-A78D-92732FDB07DF}"/>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8209707" y="3627873"/>
            <a:ext cx="1458686" cy="1458686"/>
          </a:xfrm>
          <a:prstGeom prst="rect">
            <a:avLst/>
          </a:prstGeom>
        </p:spPr>
      </p:pic>
      <p:pic>
        <p:nvPicPr>
          <p:cNvPr id="16" name="Picture 15" descr="A red letter and a black background&#10;&#10;AI-generated content may be incorrect.">
            <a:extLst>
              <a:ext uri="{FF2B5EF4-FFF2-40B4-BE49-F238E27FC236}">
                <a16:creationId xmlns:a16="http://schemas.microsoft.com/office/drawing/2014/main" id="{C8414692-F64B-FCFA-6913-45CA413FE381}"/>
              </a:ext>
            </a:extLst>
          </p:cNvPr>
          <p:cNvPicPr>
            <a:picLocks noChangeAspect="1"/>
          </p:cNvPicPr>
          <p:nvPr/>
        </p:nvPicPr>
        <p:blipFill>
          <a:blip r:embed="rId11">
            <a:extLst>
              <a:ext uri="{837473B0-CC2E-450A-ABE3-18F120FF3D39}">
                <a1611:picAttrSrcUrl xmlns:a1611="http://schemas.microsoft.com/office/drawing/2016/11/main" r:id="rId12"/>
              </a:ext>
            </a:extLst>
          </a:blip>
          <a:stretch>
            <a:fillRect/>
          </a:stretch>
        </p:blipFill>
        <p:spPr>
          <a:xfrm>
            <a:off x="4499429" y="3702252"/>
            <a:ext cx="2759694" cy="1155924"/>
          </a:xfrm>
          <a:prstGeom prst="rect">
            <a:avLst/>
          </a:prstGeom>
        </p:spPr>
      </p:pic>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1155003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Regional Differences in Yield per Season</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2845708" y="1941449"/>
            <a:ext cx="6500584" cy="2800000"/>
          </a:xfrm>
          <a:prstGeom prst="rect">
            <a:avLst/>
          </a:prstGeom>
        </p:spPr>
      </p:pic>
      <p:sp>
        <p:nvSpPr>
          <p:cNvPr id="51" name="Explanation"/>
          <p:cNvSpPr txBox="1"/>
          <p:nvPr/>
        </p:nvSpPr>
        <p:spPr>
          <a:xfrm>
            <a:off x="320982" y="4891449"/>
            <a:ext cx="8850000" cy="1508551"/>
          </a:xfrm>
          <a:prstGeom prst="rect">
            <a:avLst/>
          </a:prstGeom>
        </p:spPr>
        <p:txBody>
          <a:bodyPr wrap="square">
            <a:normAutofit/>
          </a:bodyPr>
          <a:lstStyle/>
          <a:p>
            <a:pPr>
              <a:lnSpc>
                <a:spcPct val="115000"/>
              </a:lnSpc>
              <a:spcAft>
                <a:spcPts val="400"/>
              </a:spcAft>
            </a:pPr>
            <a:r>
              <a:rPr lang="en-US" sz="1400" b="0" dirty="0"/>
              <a:t>This analysis investigates how Yield_Tonnes_Ha varies across different State for each Season. Understanding regional performance is crucial for identifying areas that excel in certain seasons or crops, and can inform regional agricultural strategies. It's relevant to the project goal of investigating how agricultural performance varies across seasons and identifying meaningful patterns, as regional variations are a significant factor.</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1155003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Impact of Soil pH on Yield per Crop</a:t>
            </a:r>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50" name="Result Chart"/>
          <p:cNvPicPr>
            <a:picLocks noChangeAspect="1"/>
          </p:cNvPicPr>
          <p:nvPr/>
        </p:nvPicPr>
        <p:blipFill>
          <a:blip r:embed="rId3"/>
          <a:stretch>
            <a:fillRect/>
          </a:stretch>
        </p:blipFill>
        <p:spPr>
          <a:xfrm>
            <a:off x="2849802" y="1941449"/>
            <a:ext cx="6492397" cy="2800000"/>
          </a:xfrm>
          <a:prstGeom prst="rect">
            <a:avLst/>
          </a:prstGeom>
        </p:spPr>
      </p:pic>
      <p:sp>
        <p:nvSpPr>
          <p:cNvPr id="51" name="Explanation"/>
          <p:cNvSpPr txBox="1"/>
          <p:nvPr/>
        </p:nvSpPr>
        <p:spPr>
          <a:xfrm>
            <a:off x="320982" y="4891449"/>
            <a:ext cx="8850000" cy="1508551"/>
          </a:xfrm>
          <a:prstGeom prst="rect">
            <a:avLst/>
          </a:prstGeom>
        </p:spPr>
        <p:txBody>
          <a:bodyPr wrap="square">
            <a:normAutofit/>
          </a:bodyPr>
          <a:lstStyle/>
          <a:p>
            <a:pPr>
              <a:lnSpc>
                <a:spcPct val="115000"/>
              </a:lnSpc>
              <a:spcAft>
                <a:spcPts val="400"/>
              </a:spcAft>
            </a:pPr>
            <a:r>
              <a:rPr lang="en-US" sz="1400" b="0" dirty="0"/>
              <a:t>This analysis explores the relationship between soil pH and yield for different crop types. Soil pH is a critical environmental factor affecting nutrient availability and crop growth. Understanding its impact across different crops can help optimize farming practices and improve yield, directly addressing the project objective of investigating relationships among relevant variables and identifying patterns in agricultural performance.</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1155003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Water Efficiency by Irrigation Method and Crop</a:t>
            </a: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2849802" y="1941449"/>
            <a:ext cx="6492397" cy="2800000"/>
          </a:xfrm>
          <a:prstGeom prst="rect">
            <a:avLst/>
          </a:prstGeom>
        </p:spPr>
      </p:pic>
      <p:sp>
        <p:nvSpPr>
          <p:cNvPr id="51" name="Explanation"/>
          <p:cNvSpPr txBox="1"/>
          <p:nvPr/>
        </p:nvSpPr>
        <p:spPr>
          <a:xfrm>
            <a:off x="320982" y="4891449"/>
            <a:ext cx="8850000" cy="1508551"/>
          </a:xfrm>
          <a:prstGeom prst="rect">
            <a:avLst/>
          </a:prstGeom>
        </p:spPr>
        <p:txBody>
          <a:bodyPr wrap="square">
            <a:normAutofit/>
          </a:bodyPr>
          <a:lstStyle/>
          <a:p>
            <a:pPr>
              <a:lnSpc>
                <a:spcPct val="115000"/>
              </a:lnSpc>
              <a:spcAft>
                <a:spcPts val="400"/>
              </a:spcAft>
            </a:pPr>
            <a:r>
              <a:rPr lang="en-US" sz="1400" b="0" dirty="0"/>
              <a:t>This analysis focuses on Water_Efficiency_t_per_1000m3 across different Irrigation_Method for each Crop. Water usage and efficiency are crucial for sustainable agriculture, especially given seasonal variations in water availability. This analysis directly addresses resource usage, helping to identify efficient practices that can lead to better performance and resource management, aligning with the project's focus on understanding agricultural performance and resource usage.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1155003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Market Price vs. Profit for Different Crops</a:t>
            </a:r>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4011052" y="1941449"/>
            <a:ext cx="4169897" cy="2200000"/>
          </a:xfrm>
          <a:prstGeom prst="rect">
            <a:avLst/>
          </a:prstGeom>
        </p:spPr>
      </p:pic>
      <p:sp>
        <p:nvSpPr>
          <p:cNvPr id="51" name="Explanation"/>
          <p:cNvSpPr txBox="1"/>
          <p:nvPr/>
        </p:nvSpPr>
        <p:spPr>
          <a:xfrm>
            <a:off x="320982" y="4291449"/>
            <a:ext cx="8850000" cy="2108551"/>
          </a:xfrm>
          <a:prstGeom prst="rect">
            <a:avLst/>
          </a:prstGeom>
        </p:spPr>
        <p:txBody>
          <a:bodyPr wrap="square">
            <a:normAutofit/>
          </a:bodyPr>
          <a:lstStyle/>
          <a:p>
            <a:pPr>
              <a:lnSpc>
                <a:spcPct val="115000"/>
              </a:lnSpc>
              <a:spcAft>
                <a:spcPts val="400"/>
              </a:spcAft>
            </a:pPr>
            <a:r>
              <a:rPr lang="en-US" sz="1200" b="1" dirty="0"/>
              <a:t>Question: How does the market price per tonne affect the profit margin for different crops?</a:t>
            </a:r>
          </a:p>
          <a:p>
            <a:pPr>
              <a:lnSpc>
                <a:spcPct val="115000"/>
              </a:lnSpc>
              <a:spcAft>
                <a:spcPts val="400"/>
              </a:spcAft>
            </a:pPr>
            <a:r>
              <a:rPr lang="en-US" sz="1200" b="0" dirty="0"/>
              <a:t>Analysis: This analysis investigates the relationship between Market_Price_INR_Tonne and Profit_INR, segmented by Crop, to help farmers make informed decisions about which crops to grow and when to sell. A higher market price per tonne generally correlates with higher profit margins, but the slope and spread of this relationship differ significantly by crop. Some crops show a wide range of profits even at similar prices, suggesting that cost of production, yield and farm area also strongly influence the final profit. Certain high-value crops consistently yield higher profits, while others are more volatile — showing that market price alone is not sufficient, and a holistic view including costs is essential for maximizing profitability.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1155003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Influence of Temperature and Rainfall on Yield by Season</a:t>
            </a: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3449572" y="1941449"/>
            <a:ext cx="5292857" cy="2800000"/>
          </a:xfrm>
          <a:prstGeom prst="rect">
            <a:avLst/>
          </a:prstGeom>
        </p:spPr>
      </p:pic>
      <p:sp>
        <p:nvSpPr>
          <p:cNvPr id="51" name="Explanation"/>
          <p:cNvSpPr txBox="1"/>
          <p:nvPr/>
        </p:nvSpPr>
        <p:spPr>
          <a:xfrm>
            <a:off x="320982" y="4891449"/>
            <a:ext cx="8850000" cy="1508551"/>
          </a:xfrm>
          <a:prstGeom prst="rect">
            <a:avLst/>
          </a:prstGeom>
        </p:spPr>
        <p:txBody>
          <a:bodyPr wrap="square">
            <a:normAutofit/>
          </a:bodyPr>
          <a:lstStyle/>
          <a:p>
            <a:pPr>
              <a:lnSpc>
                <a:spcPct val="115000"/>
              </a:lnSpc>
              <a:spcAft>
                <a:spcPts val="400"/>
              </a:spcAft>
            </a:pPr>
            <a:r>
              <a:rPr lang="en-US" sz="1300" b="0" dirty="0"/>
              <a:t>Interpretation: We can observe clusters of high yield (larger points) occurring within specific temperature and rainfall ranges, which vary by season. Kharif often shows higher rainfall and moderate-to-high temperatures, supporting higher yields for many crops, while Rabi and Zaid, with lower rainfall and different temperature profiles, favor crops adapted to those conditions or need more irrigation for comparable yields. This helps identify the ideal climatic envelope for maximizing yield in each season.</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1155003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b="1" dirty="0"/>
              <a:t>How the Analysis Could Support Future Investigation or Decision-Making?</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0" name="Future Scope Body"/>
          <p:cNvSpPr txBox="1"/>
          <p:nvPr/>
        </p:nvSpPr>
        <p:spPr>
          <a:xfrm>
            <a:off x="320982" y="2000000"/>
            <a:ext cx="8850000" cy="4300000"/>
          </a:xfrm>
          <a:prstGeom prst="rect">
            <a:avLst/>
          </a:prstGeom>
        </p:spPr>
        <p:txBody>
          <a:bodyPr wrap="square">
            <a:noAutofit/>
          </a:bodyPr>
          <a:lstStyle/>
          <a:p>
            <a:pPr>
              <a:lnSpc>
                <a:spcPct val="115000"/>
              </a:lnSpc>
              <a:spcAft>
                <a:spcPts val="600"/>
              </a:spcAft>
            </a:pPr>
            <a:r>
              <a:rPr lang="en-US" dirty="0"/>
              <a:t>This analysis provides a strong foundation for strategic decision-making in agriculture. It can support:</a:t>
            </a:r>
          </a:p>
          <a:p>
            <a:pPr marL="285750" indent="-285750">
              <a:lnSpc>
                <a:spcPct val="115000"/>
              </a:lnSpc>
              <a:spcAft>
                <a:spcPts val="500"/>
              </a:spcAft>
              <a:buFont typeface="Arial" panose="020B0604020202020204" pitchFamily="34" charset="0"/>
              <a:buChar char="•"/>
            </a:pPr>
            <a:r>
              <a:rPr lang="en-US" b="1" dirty="0"/>
              <a:t>Policy Formulation: </a:t>
            </a:r>
            <a:r>
              <a:rPr lang="en-US" dirty="0"/>
              <a:t>Inform policies related to crop subsidies, irrigation infrastructure development, and regional agricultural development programs.</a:t>
            </a:r>
          </a:p>
          <a:p>
            <a:pPr marL="285750" indent="-285750">
              <a:lnSpc>
                <a:spcPct val="115000"/>
              </a:lnSpc>
              <a:spcAft>
                <a:spcPts val="500"/>
              </a:spcAft>
              <a:buFont typeface="Arial" panose="020B0604020202020204" pitchFamily="34" charset="0"/>
              <a:buChar char="•"/>
            </a:pPr>
            <a:r>
              <a:rPr lang="en-US" b="1" dirty="0"/>
              <a:t>Farm Management: </a:t>
            </a:r>
            <a:r>
              <a:rPr lang="en-US" dirty="0"/>
              <a:t>Guide farmers in optimizing crop selection, irrigation methods, and resource allocation based on seasonal conditions and regional best practices.</a:t>
            </a:r>
          </a:p>
          <a:p>
            <a:pPr marL="285750" indent="-285750">
              <a:lnSpc>
                <a:spcPct val="115000"/>
              </a:lnSpc>
              <a:spcAft>
                <a:spcPts val="500"/>
              </a:spcAft>
              <a:buFont typeface="Arial" panose="020B0604020202020204" pitchFamily="34" charset="0"/>
              <a:buChar char="•"/>
            </a:pPr>
            <a:r>
              <a:rPr lang="en-US" b="1" dirty="0"/>
              <a:t>Further Research: </a:t>
            </a:r>
            <a:r>
              <a:rPr lang="en-US" dirty="0"/>
              <a:t>Identify specific areas for deeper scientific inquiry, such as detailed studies on soil-nutrient interactions, climate-resilient crop varieties, or the economic impact of specific farming innovations.</a:t>
            </a:r>
          </a:p>
          <a:p>
            <a:pPr marL="285750" indent="-285750">
              <a:lnSpc>
                <a:spcPct val="115000"/>
              </a:lnSpc>
              <a:buFont typeface="Arial" panose="020B0604020202020204" pitchFamily="34" charset="0"/>
              <a:buChar char="•"/>
            </a:pPr>
            <a:r>
              <a:rPr lang="en-US" b="1" dirty="0"/>
              <a:t>Risk Management: </a:t>
            </a:r>
            <a:r>
              <a:rPr lang="en-US" dirty="0"/>
              <a:t>Help stakeholders understand seasonal vulnerabilities and develop strategies to mitigate risks associated with environmental variability and market fluctuations.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587742" y="1275371"/>
            <a:ext cx="7232875" cy="646331"/>
          </a:xfrm>
          <a:prstGeom prst="rect">
            <a:avLst/>
          </a:prstGeom>
          <a:noFill/>
        </p:spPr>
        <p:txBody>
          <a:bodyPr wrap="square">
            <a:spAutoFit/>
          </a:bodyPr>
          <a:lstStyle/>
          <a:p>
            <a:r>
              <a:rPr lang="en-US" dirty="0"/>
              <a:t>https://github.com/musicaldeveloper/Seasonal-Agriculture-Data-Analysis.git</a:t>
            </a:r>
          </a:p>
        </p:txBody>
      </p:sp>
      <p:pic>
        <p:nvPicPr>
          <p:cNvPr id="6" name="Picture 5" descr="A black cat in a circle&#10;&#10;AI-generated content may be incorrect.">
            <a:extLst>
              <a:ext uri="{FF2B5EF4-FFF2-40B4-BE49-F238E27FC236}">
                <a16:creationId xmlns:a16="http://schemas.microsoft.com/office/drawing/2014/main" id="{7969A5F4-6390-89F2-15D3-4AC8732D46B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271931" y="2916060"/>
            <a:ext cx="1787880" cy="178788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22CB42C-0E97-E17F-19AC-CF43DBB62968}"/>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3905207" y="3094807"/>
            <a:ext cx="5080000" cy="1320800"/>
          </a:xfrm>
          <a:prstGeom prst="rect">
            <a:avLst/>
          </a:prstGeom>
        </p:spPr>
      </p:pic>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0" name="Certificate"/>
          <p:cNvPicPr>
            <a:picLocks noChangeAspect="1"/>
          </p:cNvPicPr>
          <p:nvPr/>
        </p:nvPicPr>
        <p:blipFill>
          <a:blip r:embed="rId3"/>
          <a:stretch>
            <a:fillRect/>
          </a:stretch>
        </p:blipFill>
        <p:spPr>
          <a:xfrm>
            <a:off x="2943476" y="1941449"/>
            <a:ext cx="6305048" cy="445855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44914" y="2895427"/>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1375</TotalTime>
  <Words>878</Words>
  <Application>Microsoft Macintosh PowerPoint</Application>
  <PresentationFormat>Widescreen</PresentationFormat>
  <Paragraphs>52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This project analyzes a seasonal agriculture dataset covering multiple Indian states, crops and farming conditions. It examines how farming practices, environmental factors, resource usage and economic performance vary across the Kharif, Rabi and Zaid seasons. Using Python-based data cleaning, exploratory analysis and visualization, the project identifies seasonal patterns, trends and relationships in agricultural performance, and develops evidence-based insights and recommendations to support seasonal agricultural planning.</vt:lpstr>
      <vt:lpstr>Who are the end users?</vt:lpstr>
      <vt:lpstr>Technologies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Aniket Dey Dhara</cp:lastModifiedBy>
  <cp:revision>102</cp:revision>
  <dcterms:created xsi:type="dcterms:W3CDTF">2021-07-11T13:13:15Z</dcterms:created>
  <dcterms:modified xsi:type="dcterms:W3CDTF">2026-09-13T18:52:49Z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